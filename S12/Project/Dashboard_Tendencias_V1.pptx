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64" r:id="rId4"/>
    <p:sldId id="258" r:id="rId5"/>
    <p:sldId id="259" r:id="rId6"/>
    <p:sldId id="260" r:id="rId7"/>
    <p:sldId id="261" r:id="rId8"/>
    <p:sldId id="262"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1542" y="66"/>
      </p:cViewPr>
      <p:guideLst>
        <p:guide orient="horz" pos="2137"/>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982233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903257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902600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22347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973649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719937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72219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87877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579962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661666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503489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491532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50050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561156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2369850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93666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9/11/2025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773484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cxnSp>
        <p:nvCxnSpPr>
          <p:cNvPr id="10" name="Straight Connector 9">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6225"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0381"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4073"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noProof="0" dirty="0"/>
          </a:p>
        </p:txBody>
      </p:sp>
      <p:sp>
        <p:nvSpPr>
          <p:cNvPr id="16"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05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noProof="0" dirty="0"/>
          </a:p>
        </p:txBody>
      </p:sp>
      <p:sp>
        <p:nvSpPr>
          <p:cNvPr id="18" name="Isosceles Triangle 17">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215"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noProof="0" dirty="0"/>
          </a:p>
        </p:txBody>
      </p:sp>
      <p:sp>
        <p:nvSpPr>
          <p:cNvPr id="20"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8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noProof="0" dirty="0"/>
          </a:p>
        </p:txBody>
      </p:sp>
      <p:sp>
        <p:nvSpPr>
          <p:cNvPr id="22" name="Isosceles Triangle 21">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36715"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noProof="0" dirty="0"/>
          </a:p>
        </p:txBody>
      </p:sp>
      <p:sp>
        <p:nvSpPr>
          <p:cNvPr id="24" name="Freeform: Shape 23">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62215" y="-8467"/>
            <a:ext cx="6881785" cy="6866467"/>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2" name="Title 1"/>
          <p:cNvSpPr>
            <a:spLocks noGrp="1"/>
          </p:cNvSpPr>
          <p:nvPr>
            <p:ph type="ctrTitle"/>
          </p:nvPr>
        </p:nvSpPr>
        <p:spPr>
          <a:xfrm>
            <a:off x="3314352" y="1020871"/>
            <a:ext cx="5220569" cy="2849671"/>
          </a:xfrm>
        </p:spPr>
        <p:txBody>
          <a:bodyPr>
            <a:normAutofit/>
          </a:bodyPr>
          <a:lstStyle/>
          <a:p>
            <a:pPr algn="l">
              <a:lnSpc>
                <a:spcPct val="90000"/>
              </a:lnSpc>
            </a:pPr>
            <a:r>
              <a:rPr lang="es-MX" sz="4000" noProof="0" dirty="0">
                <a:solidFill>
                  <a:srgbClr val="FFFFFF"/>
                </a:solidFill>
                <a:effectLst>
                  <a:outerShdw blurRad="38100" dist="38100" dir="2700000" algn="tl">
                    <a:srgbClr val="000000">
                      <a:alpha val="43137"/>
                    </a:srgbClr>
                  </a:outerShdw>
                </a:effectLst>
              </a:rPr>
              <a:t>Tablero interactivo:  Tendencias de Videos</a:t>
            </a:r>
          </a:p>
        </p:txBody>
      </p:sp>
      <p:sp>
        <p:nvSpPr>
          <p:cNvPr id="3" name="Subtitle 2"/>
          <p:cNvSpPr>
            <a:spLocks noGrp="1"/>
          </p:cNvSpPr>
          <p:nvPr>
            <p:ph type="subTitle" idx="1"/>
          </p:nvPr>
        </p:nvSpPr>
        <p:spPr>
          <a:xfrm>
            <a:off x="3411078" y="3962088"/>
            <a:ext cx="4584057" cy="1186108"/>
          </a:xfrm>
        </p:spPr>
        <p:txBody>
          <a:bodyPr>
            <a:normAutofit/>
          </a:bodyPr>
          <a:lstStyle/>
          <a:p>
            <a:pPr algn="l">
              <a:lnSpc>
                <a:spcPct val="90000"/>
              </a:lnSpc>
            </a:pPr>
            <a:r>
              <a:rPr lang="es-MX" sz="1700" noProof="0" dirty="0">
                <a:solidFill>
                  <a:srgbClr val="FFFFFF">
                    <a:alpha val="70000"/>
                  </a:srgbClr>
                </a:solidFill>
                <a:effectLst>
                  <a:outerShdw blurRad="38100" dist="38100" dir="2700000" algn="tl">
                    <a:srgbClr val="000000">
                      <a:alpha val="43137"/>
                    </a:srgbClr>
                  </a:outerShdw>
                </a:effectLst>
              </a:rPr>
              <a:t>Análisis de tendencias de videos de YouTube por categorías y regiones.</a:t>
            </a:r>
          </a:p>
        </p:txBody>
      </p:sp>
      <p:sp>
        <p:nvSpPr>
          <p:cNvPr id="26" name="Isosceles Triangle 25">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19339" y="3294792"/>
            <a:ext cx="220660" cy="13982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p>
        </p:txBody>
      </p:sp>
      <p:sp>
        <p:nvSpPr>
          <p:cNvPr id="4" name="CuadroTexto 3">
            <a:extLst>
              <a:ext uri="{FF2B5EF4-FFF2-40B4-BE49-F238E27FC236}">
                <a16:creationId xmlns:a16="http://schemas.microsoft.com/office/drawing/2014/main" id="{7B2BAF33-1FCC-5270-4275-18ABB1B4611D}"/>
              </a:ext>
            </a:extLst>
          </p:cNvPr>
          <p:cNvSpPr txBox="1"/>
          <p:nvPr/>
        </p:nvSpPr>
        <p:spPr>
          <a:xfrm>
            <a:off x="3277492" y="6189315"/>
            <a:ext cx="5329088" cy="369332"/>
          </a:xfrm>
          <a:prstGeom prst="rect">
            <a:avLst/>
          </a:prstGeom>
          <a:noFill/>
        </p:spPr>
        <p:txBody>
          <a:bodyPr wrap="none" rtlCol="0">
            <a:spAutoFit/>
          </a:bodyPr>
          <a:lstStyle/>
          <a:p>
            <a:pPr algn="r"/>
            <a:r>
              <a:rPr lang="es-MX" dirty="0">
                <a:effectLst>
                  <a:outerShdw blurRad="38100" dist="38100" dir="2700000" algn="tl">
                    <a:srgbClr val="000000">
                      <a:alpha val="43137"/>
                    </a:srgbClr>
                  </a:outerShdw>
                </a:effectLst>
              </a:rPr>
              <a:t>Presentado por: I.S.C. Dan Leví Menchaca Bedolla</a:t>
            </a:r>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noProof="0" dirty="0"/>
              <a:t>Introducción</a:t>
            </a:r>
          </a:p>
        </p:txBody>
      </p:sp>
      <p:sp>
        <p:nvSpPr>
          <p:cNvPr id="3" name="Content Placeholder 2"/>
          <p:cNvSpPr>
            <a:spLocks noGrp="1"/>
          </p:cNvSpPr>
          <p:nvPr>
            <p:ph idx="1"/>
          </p:nvPr>
        </p:nvSpPr>
        <p:spPr>
          <a:xfrm>
            <a:off x="609598" y="2160590"/>
            <a:ext cx="6907079" cy="3880773"/>
          </a:xfrm>
        </p:spPr>
        <p:txBody>
          <a:bodyPr/>
          <a:lstStyle/>
          <a:p>
            <a:r>
              <a:rPr lang="es-MX" noProof="0" dirty="0"/>
              <a:t>El presente tablero, tiene como objetivo presentar las tendencias de los videos de YouTube al Departamento de Mercadotecnia.</a:t>
            </a:r>
          </a:p>
          <a:p>
            <a:r>
              <a:rPr lang="es-MX" noProof="0" dirty="0"/>
              <a:t>La fuente de datos es el archivo </a:t>
            </a:r>
            <a:r>
              <a:rPr lang="es-MX" b="1" i="1" noProof="0" dirty="0"/>
              <a:t>trending_by_time.csv</a:t>
            </a:r>
          </a:p>
          <a:p>
            <a:r>
              <a:rPr lang="es-MX" noProof="0" dirty="0"/>
              <a:t>Los datos para trabajar son:</a:t>
            </a:r>
          </a:p>
          <a:p>
            <a:pPr lvl="1"/>
            <a:r>
              <a:rPr lang="es-MX" noProof="0" dirty="0" err="1"/>
              <a:t>record_id</a:t>
            </a:r>
            <a:r>
              <a:rPr lang="es-MX" noProof="0" dirty="0"/>
              <a:t> (la clave primaria)</a:t>
            </a:r>
          </a:p>
          <a:p>
            <a:pPr lvl="1"/>
            <a:r>
              <a:rPr lang="es-MX" noProof="0" dirty="0" err="1"/>
              <a:t>Region</a:t>
            </a:r>
            <a:r>
              <a:rPr lang="es-MX" noProof="0" dirty="0"/>
              <a:t> (País / Región geográfica)</a:t>
            </a:r>
          </a:p>
          <a:p>
            <a:pPr lvl="1"/>
            <a:r>
              <a:rPr lang="es-MX" noProof="0" dirty="0" err="1"/>
              <a:t>trending_date</a:t>
            </a:r>
            <a:r>
              <a:rPr lang="es-MX" noProof="0" dirty="0"/>
              <a:t> (fecha y hora)</a:t>
            </a:r>
          </a:p>
          <a:p>
            <a:pPr lvl="1"/>
            <a:r>
              <a:rPr lang="es-MX" noProof="0" dirty="0" err="1"/>
              <a:t>category_title</a:t>
            </a:r>
            <a:r>
              <a:rPr lang="es-MX" noProof="0" dirty="0"/>
              <a:t> (Categoría del video)</a:t>
            </a:r>
          </a:p>
          <a:p>
            <a:pPr lvl="1"/>
            <a:r>
              <a:rPr lang="es-MX" noProof="0" dirty="0" err="1"/>
              <a:t>Videos_count</a:t>
            </a:r>
            <a:r>
              <a:rPr lang="es-MX" noProof="0" dirty="0"/>
              <a:t> (Número de videos en la sección de tendencias)</a:t>
            </a:r>
          </a:p>
          <a:p>
            <a:pPr lvl="1"/>
            <a:endParaRPr lang="es-MX" noProof="0" dirty="0"/>
          </a:p>
          <a:p>
            <a:endParaRPr lang="es-MX"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BE792FC-1C7F-12EB-4ACF-41214B4857AA}"/>
              </a:ext>
            </a:extLst>
          </p:cNvPr>
          <p:cNvPicPr>
            <a:picLocks noChangeAspect="1"/>
          </p:cNvPicPr>
          <p:nvPr/>
        </p:nvPicPr>
        <p:blipFill>
          <a:blip r:embed="rId2"/>
          <a:stretch>
            <a:fillRect/>
          </a:stretch>
        </p:blipFill>
        <p:spPr>
          <a:xfrm>
            <a:off x="209227" y="1843770"/>
            <a:ext cx="8725546" cy="4404630"/>
          </a:xfrm>
          <a:prstGeom prst="rect">
            <a:avLst/>
          </a:prstGeom>
        </p:spPr>
      </p:pic>
      <p:sp>
        <p:nvSpPr>
          <p:cNvPr id="6" name="Título 5">
            <a:extLst>
              <a:ext uri="{FF2B5EF4-FFF2-40B4-BE49-F238E27FC236}">
                <a16:creationId xmlns:a16="http://schemas.microsoft.com/office/drawing/2014/main" id="{4A7454AC-7296-EEF9-7F2F-54422E674C65}"/>
              </a:ext>
            </a:extLst>
          </p:cNvPr>
          <p:cNvSpPr>
            <a:spLocks noGrp="1"/>
          </p:cNvSpPr>
          <p:nvPr>
            <p:ph type="title"/>
          </p:nvPr>
        </p:nvSpPr>
        <p:spPr/>
        <p:txBody>
          <a:bodyPr/>
          <a:lstStyle/>
          <a:p>
            <a:r>
              <a:rPr lang="es-MX" dirty="0"/>
              <a:t>Diseño del tablero</a:t>
            </a:r>
          </a:p>
        </p:txBody>
      </p:sp>
      <p:sp>
        <p:nvSpPr>
          <p:cNvPr id="7" name="Rectángulo 6">
            <a:extLst>
              <a:ext uri="{FF2B5EF4-FFF2-40B4-BE49-F238E27FC236}">
                <a16:creationId xmlns:a16="http://schemas.microsoft.com/office/drawing/2014/main" id="{B202D7CF-0556-715E-C85A-D8ACE5E58D01}"/>
              </a:ext>
            </a:extLst>
          </p:cNvPr>
          <p:cNvSpPr/>
          <p:nvPr/>
        </p:nvSpPr>
        <p:spPr>
          <a:xfrm>
            <a:off x="0" y="1856686"/>
            <a:ext cx="4362773" cy="623044"/>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MX"/>
          </a:p>
        </p:txBody>
      </p:sp>
      <p:sp>
        <p:nvSpPr>
          <p:cNvPr id="8" name="Rectángulo 7">
            <a:extLst>
              <a:ext uri="{FF2B5EF4-FFF2-40B4-BE49-F238E27FC236}">
                <a16:creationId xmlns:a16="http://schemas.microsoft.com/office/drawing/2014/main" id="{F8B9F465-A794-14A4-4D98-D4221CE4D19A}"/>
              </a:ext>
            </a:extLst>
          </p:cNvPr>
          <p:cNvSpPr/>
          <p:nvPr/>
        </p:nvSpPr>
        <p:spPr>
          <a:xfrm>
            <a:off x="4572000" y="1856685"/>
            <a:ext cx="4362773" cy="623044"/>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MX"/>
          </a:p>
        </p:txBody>
      </p:sp>
      <p:cxnSp>
        <p:nvCxnSpPr>
          <p:cNvPr id="10" name="Conector recto de flecha 9">
            <a:extLst>
              <a:ext uri="{FF2B5EF4-FFF2-40B4-BE49-F238E27FC236}">
                <a16:creationId xmlns:a16="http://schemas.microsoft.com/office/drawing/2014/main" id="{B0ABBE33-D6F2-3842-6263-2870A3587B4B}"/>
              </a:ext>
            </a:extLst>
          </p:cNvPr>
          <p:cNvCxnSpPr>
            <a:cxnSpLocks/>
            <a:stCxn id="11" idx="2"/>
            <a:endCxn id="7" idx="0"/>
          </p:cNvCxnSpPr>
          <p:nvPr/>
        </p:nvCxnSpPr>
        <p:spPr>
          <a:xfrm>
            <a:off x="2168882" y="1652646"/>
            <a:ext cx="12505" cy="204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D1E3F9E4-A247-B546-3120-1BFF39F1F11A}"/>
              </a:ext>
            </a:extLst>
          </p:cNvPr>
          <p:cNvSpPr txBox="1"/>
          <p:nvPr/>
        </p:nvSpPr>
        <p:spPr>
          <a:xfrm>
            <a:off x="1167646" y="1283314"/>
            <a:ext cx="2002471" cy="369332"/>
          </a:xfrm>
          <a:prstGeom prst="rect">
            <a:avLst/>
          </a:prstGeom>
          <a:noFill/>
        </p:spPr>
        <p:txBody>
          <a:bodyPr wrap="none" rtlCol="0">
            <a:spAutoFit/>
          </a:bodyPr>
          <a:lstStyle/>
          <a:p>
            <a:r>
              <a:rPr lang="es-MX" dirty="0">
                <a:solidFill>
                  <a:srgbClr val="FF0000"/>
                </a:solidFill>
              </a:rPr>
              <a:t>Título del tablero</a:t>
            </a:r>
          </a:p>
        </p:txBody>
      </p:sp>
      <p:sp>
        <p:nvSpPr>
          <p:cNvPr id="15" name="CuadroTexto 14">
            <a:extLst>
              <a:ext uri="{FF2B5EF4-FFF2-40B4-BE49-F238E27FC236}">
                <a16:creationId xmlns:a16="http://schemas.microsoft.com/office/drawing/2014/main" id="{13F07883-7FF2-2232-860D-118045BBBC1B}"/>
              </a:ext>
            </a:extLst>
          </p:cNvPr>
          <p:cNvSpPr txBox="1"/>
          <p:nvPr/>
        </p:nvSpPr>
        <p:spPr>
          <a:xfrm>
            <a:off x="4750915" y="1219578"/>
            <a:ext cx="1667444" cy="369332"/>
          </a:xfrm>
          <a:prstGeom prst="rect">
            <a:avLst/>
          </a:prstGeom>
          <a:noFill/>
        </p:spPr>
        <p:txBody>
          <a:bodyPr wrap="none" rtlCol="0">
            <a:spAutoFit/>
          </a:bodyPr>
          <a:lstStyle/>
          <a:p>
            <a:r>
              <a:rPr lang="es-MX" dirty="0">
                <a:solidFill>
                  <a:srgbClr val="FF0000"/>
                </a:solidFill>
              </a:rPr>
              <a:t>Área de filtros</a:t>
            </a:r>
          </a:p>
        </p:txBody>
      </p:sp>
      <p:cxnSp>
        <p:nvCxnSpPr>
          <p:cNvPr id="16" name="Conector recto de flecha 15">
            <a:extLst>
              <a:ext uri="{FF2B5EF4-FFF2-40B4-BE49-F238E27FC236}">
                <a16:creationId xmlns:a16="http://schemas.microsoft.com/office/drawing/2014/main" id="{51C77240-E823-4AF6-52A2-60F69B64AB45}"/>
              </a:ext>
            </a:extLst>
          </p:cNvPr>
          <p:cNvCxnSpPr>
            <a:cxnSpLocks/>
            <a:stCxn id="15" idx="2"/>
          </p:cNvCxnSpPr>
          <p:nvPr/>
        </p:nvCxnSpPr>
        <p:spPr>
          <a:xfrm>
            <a:off x="5584637" y="1588910"/>
            <a:ext cx="1168749" cy="2548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Rectángulo 18">
            <a:extLst>
              <a:ext uri="{FF2B5EF4-FFF2-40B4-BE49-F238E27FC236}">
                <a16:creationId xmlns:a16="http://schemas.microsoft.com/office/drawing/2014/main" id="{2B56065B-0AE3-B453-5FD0-FDF4B0A85F8D}"/>
              </a:ext>
            </a:extLst>
          </p:cNvPr>
          <p:cNvSpPr/>
          <p:nvPr/>
        </p:nvSpPr>
        <p:spPr>
          <a:xfrm>
            <a:off x="-12506" y="2541526"/>
            <a:ext cx="4375279" cy="1646794"/>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MX"/>
          </a:p>
        </p:txBody>
      </p:sp>
      <p:sp>
        <p:nvSpPr>
          <p:cNvPr id="20" name="Rectángulo 19">
            <a:extLst>
              <a:ext uri="{FF2B5EF4-FFF2-40B4-BE49-F238E27FC236}">
                <a16:creationId xmlns:a16="http://schemas.microsoft.com/office/drawing/2014/main" id="{7F528896-5061-2509-591A-915A0A70FA9A}"/>
              </a:ext>
            </a:extLst>
          </p:cNvPr>
          <p:cNvSpPr/>
          <p:nvPr/>
        </p:nvSpPr>
        <p:spPr>
          <a:xfrm>
            <a:off x="4559494" y="2540378"/>
            <a:ext cx="2397819" cy="1635026"/>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MX"/>
          </a:p>
        </p:txBody>
      </p:sp>
      <p:sp>
        <p:nvSpPr>
          <p:cNvPr id="21" name="Rectángulo 20">
            <a:extLst>
              <a:ext uri="{FF2B5EF4-FFF2-40B4-BE49-F238E27FC236}">
                <a16:creationId xmlns:a16="http://schemas.microsoft.com/office/drawing/2014/main" id="{09CC4571-D748-D242-B54B-00DA5CD9C63C}"/>
              </a:ext>
            </a:extLst>
          </p:cNvPr>
          <p:cNvSpPr/>
          <p:nvPr/>
        </p:nvSpPr>
        <p:spPr>
          <a:xfrm>
            <a:off x="-12506" y="4262034"/>
            <a:ext cx="4375279" cy="1986366"/>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MX"/>
          </a:p>
        </p:txBody>
      </p:sp>
      <p:sp>
        <p:nvSpPr>
          <p:cNvPr id="22" name="Rectángulo 21">
            <a:extLst>
              <a:ext uri="{FF2B5EF4-FFF2-40B4-BE49-F238E27FC236}">
                <a16:creationId xmlns:a16="http://schemas.microsoft.com/office/drawing/2014/main" id="{53725334-9B32-74A2-9981-ADAA227422BA}"/>
              </a:ext>
            </a:extLst>
          </p:cNvPr>
          <p:cNvSpPr/>
          <p:nvPr/>
        </p:nvSpPr>
        <p:spPr>
          <a:xfrm>
            <a:off x="4571999" y="4262033"/>
            <a:ext cx="4375279" cy="1986365"/>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MX"/>
          </a:p>
        </p:txBody>
      </p:sp>
      <p:sp>
        <p:nvSpPr>
          <p:cNvPr id="23" name="Rectángulo 22">
            <a:extLst>
              <a:ext uri="{FF2B5EF4-FFF2-40B4-BE49-F238E27FC236}">
                <a16:creationId xmlns:a16="http://schemas.microsoft.com/office/drawing/2014/main" id="{162A1F24-1280-0487-DBDA-8EC90BEDD168}"/>
              </a:ext>
            </a:extLst>
          </p:cNvPr>
          <p:cNvSpPr/>
          <p:nvPr/>
        </p:nvSpPr>
        <p:spPr>
          <a:xfrm>
            <a:off x="7154034" y="2541526"/>
            <a:ext cx="1780739" cy="1646794"/>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MX"/>
          </a:p>
        </p:txBody>
      </p:sp>
      <p:sp>
        <p:nvSpPr>
          <p:cNvPr id="24" name="CuadroTexto 23">
            <a:extLst>
              <a:ext uri="{FF2B5EF4-FFF2-40B4-BE49-F238E27FC236}">
                <a16:creationId xmlns:a16="http://schemas.microsoft.com/office/drawing/2014/main" id="{1DE94197-0559-862E-5FAA-CA2C9A55E6A8}"/>
              </a:ext>
            </a:extLst>
          </p:cNvPr>
          <p:cNvSpPr txBox="1"/>
          <p:nvPr/>
        </p:nvSpPr>
        <p:spPr>
          <a:xfrm>
            <a:off x="1502673" y="6318594"/>
            <a:ext cx="1130438" cy="369332"/>
          </a:xfrm>
          <a:prstGeom prst="rect">
            <a:avLst/>
          </a:prstGeom>
          <a:noFill/>
        </p:spPr>
        <p:txBody>
          <a:bodyPr wrap="none" rtlCol="0">
            <a:spAutoFit/>
          </a:bodyPr>
          <a:lstStyle/>
          <a:p>
            <a:r>
              <a:rPr lang="es-MX" dirty="0">
                <a:solidFill>
                  <a:srgbClr val="FF0000"/>
                </a:solidFill>
              </a:rPr>
              <a:t>Gráfico 3</a:t>
            </a:r>
          </a:p>
        </p:txBody>
      </p:sp>
      <p:sp>
        <p:nvSpPr>
          <p:cNvPr id="25" name="CuadroTexto 24">
            <a:extLst>
              <a:ext uri="{FF2B5EF4-FFF2-40B4-BE49-F238E27FC236}">
                <a16:creationId xmlns:a16="http://schemas.microsoft.com/office/drawing/2014/main" id="{6B67A351-3D3D-8B04-E609-409AFC26E44C}"/>
              </a:ext>
            </a:extLst>
          </p:cNvPr>
          <p:cNvSpPr txBox="1"/>
          <p:nvPr/>
        </p:nvSpPr>
        <p:spPr>
          <a:xfrm>
            <a:off x="1502673" y="2734590"/>
            <a:ext cx="1130438" cy="369332"/>
          </a:xfrm>
          <a:prstGeom prst="rect">
            <a:avLst/>
          </a:prstGeom>
          <a:noFill/>
        </p:spPr>
        <p:txBody>
          <a:bodyPr wrap="none" rtlCol="0">
            <a:spAutoFit/>
          </a:bodyPr>
          <a:lstStyle/>
          <a:p>
            <a:r>
              <a:rPr lang="es-MX" dirty="0">
                <a:solidFill>
                  <a:srgbClr val="FF0000"/>
                </a:solidFill>
              </a:rPr>
              <a:t>Gráfico 1</a:t>
            </a:r>
          </a:p>
        </p:txBody>
      </p:sp>
      <p:sp>
        <p:nvSpPr>
          <p:cNvPr id="26" name="CuadroTexto 25">
            <a:extLst>
              <a:ext uri="{FF2B5EF4-FFF2-40B4-BE49-F238E27FC236}">
                <a16:creationId xmlns:a16="http://schemas.microsoft.com/office/drawing/2014/main" id="{867EBAA6-4526-274F-F24C-8E09E0B9EC6D}"/>
              </a:ext>
            </a:extLst>
          </p:cNvPr>
          <p:cNvSpPr txBox="1"/>
          <p:nvPr/>
        </p:nvSpPr>
        <p:spPr>
          <a:xfrm>
            <a:off x="5215677" y="3755754"/>
            <a:ext cx="1130438" cy="369332"/>
          </a:xfrm>
          <a:prstGeom prst="rect">
            <a:avLst/>
          </a:prstGeom>
          <a:noFill/>
        </p:spPr>
        <p:txBody>
          <a:bodyPr wrap="none" rtlCol="0">
            <a:spAutoFit/>
          </a:bodyPr>
          <a:lstStyle/>
          <a:p>
            <a:r>
              <a:rPr lang="es-MX" dirty="0">
                <a:solidFill>
                  <a:srgbClr val="FF0000"/>
                </a:solidFill>
              </a:rPr>
              <a:t>Gráfico 2</a:t>
            </a:r>
          </a:p>
        </p:txBody>
      </p:sp>
      <p:sp>
        <p:nvSpPr>
          <p:cNvPr id="27" name="CuadroTexto 26">
            <a:extLst>
              <a:ext uri="{FF2B5EF4-FFF2-40B4-BE49-F238E27FC236}">
                <a16:creationId xmlns:a16="http://schemas.microsoft.com/office/drawing/2014/main" id="{7EADE526-E495-DE89-DD2F-EF46787D8083}"/>
              </a:ext>
            </a:extLst>
          </p:cNvPr>
          <p:cNvSpPr txBox="1"/>
          <p:nvPr/>
        </p:nvSpPr>
        <p:spPr>
          <a:xfrm>
            <a:off x="6188167" y="6335027"/>
            <a:ext cx="1130438" cy="369332"/>
          </a:xfrm>
          <a:prstGeom prst="rect">
            <a:avLst/>
          </a:prstGeom>
          <a:noFill/>
        </p:spPr>
        <p:txBody>
          <a:bodyPr wrap="none" rtlCol="0">
            <a:spAutoFit/>
          </a:bodyPr>
          <a:lstStyle/>
          <a:p>
            <a:r>
              <a:rPr lang="es-MX" dirty="0">
                <a:solidFill>
                  <a:srgbClr val="FF0000"/>
                </a:solidFill>
              </a:rPr>
              <a:t>Gráfico 4</a:t>
            </a:r>
          </a:p>
        </p:txBody>
      </p:sp>
      <p:sp>
        <p:nvSpPr>
          <p:cNvPr id="28" name="CuadroTexto 27">
            <a:extLst>
              <a:ext uri="{FF2B5EF4-FFF2-40B4-BE49-F238E27FC236}">
                <a16:creationId xmlns:a16="http://schemas.microsoft.com/office/drawing/2014/main" id="{C9D24D31-CB04-BBDC-D1ED-A0528D05E9C9}"/>
              </a:ext>
            </a:extLst>
          </p:cNvPr>
          <p:cNvSpPr txBox="1"/>
          <p:nvPr/>
        </p:nvSpPr>
        <p:spPr>
          <a:xfrm>
            <a:off x="7408652" y="2590057"/>
            <a:ext cx="1271502" cy="369332"/>
          </a:xfrm>
          <a:prstGeom prst="rect">
            <a:avLst/>
          </a:prstGeom>
          <a:noFill/>
        </p:spPr>
        <p:txBody>
          <a:bodyPr wrap="none" rtlCol="0">
            <a:spAutoFit/>
          </a:bodyPr>
          <a:lstStyle/>
          <a:p>
            <a:r>
              <a:rPr lang="es-MX" dirty="0">
                <a:solidFill>
                  <a:srgbClr val="FF0000"/>
                </a:solidFill>
              </a:rPr>
              <a:t>Categorías</a:t>
            </a:r>
          </a:p>
        </p:txBody>
      </p:sp>
    </p:spTree>
    <p:extLst>
      <p:ext uri="{BB962C8B-B14F-4D97-AF65-F5344CB8AC3E}">
        <p14:creationId xmlns:p14="http://schemas.microsoft.com/office/powerpoint/2010/main" val="3394116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noProof="0" dirty="0"/>
              <a:t>1. ¿Qué categorías estuvieron más frecuentemente en tendencia?</a:t>
            </a:r>
          </a:p>
        </p:txBody>
      </p:sp>
      <p:sp>
        <p:nvSpPr>
          <p:cNvPr id="3" name="Content Placeholder 2"/>
          <p:cNvSpPr>
            <a:spLocks noGrp="1"/>
          </p:cNvSpPr>
          <p:nvPr>
            <p:ph idx="1"/>
          </p:nvPr>
        </p:nvSpPr>
        <p:spPr/>
        <p:txBody>
          <a:bodyPr/>
          <a:lstStyle/>
          <a:p>
            <a:r>
              <a:rPr lang="es-MX" noProof="0" dirty="0"/>
              <a:t>El gráfico </a:t>
            </a:r>
            <a:r>
              <a:rPr lang="es-MX" b="1" noProof="0" dirty="0"/>
              <a:t>“01 - Historial de tendencias</a:t>
            </a:r>
            <a:r>
              <a:rPr lang="es-MX" b="1" dirty="0"/>
              <a:t>”</a:t>
            </a:r>
            <a:r>
              <a:rPr lang="es-MX" b="1" noProof="0" dirty="0"/>
              <a:t> </a:t>
            </a:r>
            <a:r>
              <a:rPr lang="es-MX" noProof="0" dirty="0"/>
              <a:t>se muestra el volumen de videos diarios por categoría.</a:t>
            </a:r>
          </a:p>
          <a:p>
            <a:r>
              <a:rPr lang="es-MX" noProof="0" dirty="0"/>
              <a:t>El gráfico (tabla) </a:t>
            </a:r>
            <a:r>
              <a:rPr lang="es-MX" b="1" noProof="0" dirty="0"/>
              <a:t>“04 – País por categoría”</a:t>
            </a:r>
            <a:r>
              <a:rPr lang="es-MX" noProof="0" dirty="0"/>
              <a:t> también permite identificar las categorías dominantes a nivel global.</a:t>
            </a:r>
          </a:p>
          <a:p>
            <a:endParaRPr lang="es-MX" noProof="0" dirty="0"/>
          </a:p>
          <a:p>
            <a:r>
              <a:rPr lang="es-MX" noProof="0" dirty="0"/>
              <a:t>Resultados:</a:t>
            </a:r>
          </a:p>
          <a:p>
            <a:pPr lvl="1"/>
            <a:r>
              <a:rPr lang="es-MX" noProof="0" dirty="0" err="1"/>
              <a:t>Entertainment</a:t>
            </a:r>
            <a:r>
              <a:rPr lang="es-MX" dirty="0"/>
              <a:t>, </a:t>
            </a:r>
            <a:r>
              <a:rPr lang="es-MX" noProof="0" dirty="0"/>
              <a:t>People &amp; Blogs, Music y News &amp; </a:t>
            </a:r>
            <a:r>
              <a:rPr lang="es-MX" noProof="0" dirty="0" err="1"/>
              <a:t>Politics</a:t>
            </a:r>
            <a:r>
              <a:rPr lang="es-MX" noProof="0" dirty="0"/>
              <a:t> fueron las categorías más frecuentes.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noProof="0" dirty="0"/>
              <a:t>2. ¿Cómo se distribuyeron en las regiones?</a:t>
            </a:r>
          </a:p>
        </p:txBody>
      </p:sp>
      <p:sp>
        <p:nvSpPr>
          <p:cNvPr id="3" name="Content Placeholder 2"/>
          <p:cNvSpPr>
            <a:spLocks noGrp="1"/>
          </p:cNvSpPr>
          <p:nvPr>
            <p:ph idx="1"/>
          </p:nvPr>
        </p:nvSpPr>
        <p:spPr/>
        <p:txBody>
          <a:bodyPr/>
          <a:lstStyle/>
          <a:p>
            <a:r>
              <a:rPr lang="es-MX" noProof="0" dirty="0"/>
              <a:t>El gráfico </a:t>
            </a:r>
            <a:r>
              <a:rPr lang="es-MX" b="1" noProof="0" dirty="0"/>
              <a:t>“02 – Tendencias de videos por país %” </a:t>
            </a:r>
            <a:r>
              <a:rPr lang="es-MX" noProof="0" dirty="0"/>
              <a:t>se muestra la proporción relativa de cada país.</a:t>
            </a:r>
          </a:p>
          <a:p>
            <a:r>
              <a:rPr lang="es-MX" noProof="0" dirty="0"/>
              <a:t>La tabla detalla la cantidad absoluta de videos en cada categoría por país.</a:t>
            </a:r>
          </a:p>
          <a:p>
            <a:endParaRPr lang="es-MX" noProof="0" dirty="0"/>
          </a:p>
          <a:p>
            <a:r>
              <a:rPr lang="es-MX" noProof="0" dirty="0"/>
              <a:t>Resultados:</a:t>
            </a:r>
          </a:p>
          <a:p>
            <a:pPr lvl="1"/>
            <a:r>
              <a:rPr lang="es-MX" noProof="0" dirty="0"/>
              <a:t>Estados Unidos y Francia concentraron los mayores volúmenes de videos vistos.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noProof="0" dirty="0"/>
              <a:t>3. ¿Qué categorías fueron particularmente populares en Estados Unidos?</a:t>
            </a:r>
          </a:p>
        </p:txBody>
      </p:sp>
      <p:sp>
        <p:nvSpPr>
          <p:cNvPr id="3" name="Content Placeholder 2"/>
          <p:cNvSpPr>
            <a:spLocks noGrp="1"/>
          </p:cNvSpPr>
          <p:nvPr>
            <p:ph idx="1"/>
          </p:nvPr>
        </p:nvSpPr>
        <p:spPr/>
        <p:txBody>
          <a:bodyPr/>
          <a:lstStyle/>
          <a:p>
            <a:r>
              <a:rPr lang="es-MX" noProof="0" dirty="0"/>
              <a:t>En el gráfico </a:t>
            </a:r>
            <a:r>
              <a:rPr lang="es-MX" b="1" noProof="0" dirty="0"/>
              <a:t>“04 - País por categoría”</a:t>
            </a:r>
            <a:r>
              <a:rPr lang="es-MX" noProof="0" dirty="0"/>
              <a:t>, la columna de Estados Unidos destaca </a:t>
            </a:r>
            <a:r>
              <a:rPr lang="es-MX" noProof="0" dirty="0" err="1"/>
              <a:t>Entertainment</a:t>
            </a:r>
            <a:r>
              <a:rPr lang="es-MX" noProof="0" dirty="0"/>
              <a:t>, Music y </a:t>
            </a:r>
            <a:r>
              <a:rPr lang="es-MX" noProof="0" dirty="0" err="1"/>
              <a:t>Howto</a:t>
            </a:r>
            <a:r>
              <a:rPr lang="es-MX" noProof="0" dirty="0"/>
              <a:t> &amp; Style como categorías líderes.</a:t>
            </a:r>
          </a:p>
          <a:p>
            <a:r>
              <a:rPr lang="es-MX" dirty="0"/>
              <a:t>Las categorías menos favorecidas son: </a:t>
            </a:r>
            <a:r>
              <a:rPr lang="es-MX" dirty="0" err="1"/>
              <a:t>Nonprofit</a:t>
            </a:r>
            <a:r>
              <a:rPr lang="es-MX" dirty="0"/>
              <a:t> &amp; </a:t>
            </a:r>
            <a:r>
              <a:rPr lang="es-MX" dirty="0" err="1"/>
              <a:t>Activism</a:t>
            </a:r>
            <a:r>
              <a:rPr lang="es-MX" dirty="0"/>
              <a:t> y Shows.</a:t>
            </a:r>
            <a:endParaRPr lang="es-MX"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noProof="0" dirty="0"/>
              <a:t>4. ¿Hubo diferencias entre Estados Unidos y otros países?</a:t>
            </a:r>
          </a:p>
        </p:txBody>
      </p:sp>
      <p:sp>
        <p:nvSpPr>
          <p:cNvPr id="3" name="Content Placeholder 2"/>
          <p:cNvSpPr>
            <a:spLocks noGrp="1"/>
          </p:cNvSpPr>
          <p:nvPr>
            <p:ph idx="1"/>
          </p:nvPr>
        </p:nvSpPr>
        <p:spPr/>
        <p:txBody>
          <a:bodyPr>
            <a:normAutofit/>
          </a:bodyPr>
          <a:lstStyle/>
          <a:p>
            <a:r>
              <a:rPr lang="es-MX" noProof="0" dirty="0"/>
              <a:t>Si, analizando el gráfico </a:t>
            </a:r>
            <a:r>
              <a:rPr lang="es-MX" b="1" noProof="0" dirty="0"/>
              <a:t>“04 – País por categoría</a:t>
            </a:r>
            <a:r>
              <a:rPr lang="es-MX" b="1" dirty="0"/>
              <a:t>”</a:t>
            </a:r>
            <a:r>
              <a:rPr lang="es-MX" dirty="0"/>
              <a:t>, se observa que la categoría dominante para todos los países es </a:t>
            </a:r>
            <a:r>
              <a:rPr lang="es-MX" dirty="0" err="1"/>
              <a:t>Entertainment</a:t>
            </a:r>
            <a:r>
              <a:rPr lang="es-MX" dirty="0"/>
              <a:t>, seguida por People &amp; Blogs y News &amp; </a:t>
            </a:r>
            <a:r>
              <a:rPr lang="es-MX" dirty="0" err="1"/>
              <a:t>Politics</a:t>
            </a:r>
            <a:r>
              <a:rPr lang="es-MX" dirty="0"/>
              <a:t>.</a:t>
            </a:r>
            <a:endParaRPr lang="es-MX" noProof="0" dirty="0"/>
          </a:p>
          <a:p>
            <a:endParaRPr lang="es-MX" noProof="0" dirty="0"/>
          </a:p>
          <a:p>
            <a:r>
              <a:rPr lang="es-MX" noProof="0" dirty="0"/>
              <a:t>Resultados:</a:t>
            </a:r>
          </a:p>
          <a:p>
            <a:pPr lvl="1"/>
            <a:r>
              <a:rPr lang="es-MX" dirty="0"/>
              <a:t>Existe una diferencia marcada  en el tipo de videos que prefiere la gente en las distintas regiones, sin embargo, los videos de entretenimiento predominan las preferencias, doblando incluso las preferencias contra su competidor más cercano (People &amp; Blogs)</a:t>
            </a:r>
            <a:endParaRPr lang="es-MX"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noProof="0" dirty="0"/>
              <a:t>Conclusiones</a:t>
            </a:r>
          </a:p>
        </p:txBody>
      </p:sp>
      <p:sp>
        <p:nvSpPr>
          <p:cNvPr id="3" name="Content Placeholder 2"/>
          <p:cNvSpPr>
            <a:spLocks noGrp="1"/>
          </p:cNvSpPr>
          <p:nvPr>
            <p:ph idx="1"/>
          </p:nvPr>
        </p:nvSpPr>
        <p:spPr/>
        <p:txBody>
          <a:bodyPr/>
          <a:lstStyle/>
          <a:p>
            <a:r>
              <a:rPr lang="es-MX" noProof="0" dirty="0"/>
              <a:t>Las categorías </a:t>
            </a:r>
            <a:r>
              <a:rPr lang="es-MX" noProof="0" dirty="0" err="1"/>
              <a:t>Entertainment</a:t>
            </a:r>
            <a:r>
              <a:rPr lang="es-MX" noProof="0" dirty="0"/>
              <a:t> y People &amp; Blogs dominaron en la mayoría de regiones.</a:t>
            </a:r>
          </a:p>
          <a:p>
            <a:r>
              <a:rPr lang="es-MX" noProof="0" dirty="0"/>
              <a:t>Estados Unidos y Francia concentraron gran parte del volumen de videos en tendencia.</a:t>
            </a:r>
            <a:endParaRPr lang="es-MX" dirty="0"/>
          </a:p>
          <a:p>
            <a:r>
              <a:rPr lang="es-MX" noProof="0" dirty="0"/>
              <a:t>Versión 1 sujeta a revisión, cambios y mejoras.</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87</TotalTime>
  <Words>445</Words>
  <Application>Microsoft Office PowerPoint</Application>
  <PresentationFormat>Presentación en pantalla (4:3)</PresentationFormat>
  <Paragraphs>44</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Trebuchet MS</vt:lpstr>
      <vt:lpstr>Wingdings 3</vt:lpstr>
      <vt:lpstr>Faceta</vt:lpstr>
      <vt:lpstr>Tablero interactivo:  Tendencias de Videos</vt:lpstr>
      <vt:lpstr>Introducción</vt:lpstr>
      <vt:lpstr>Diseño del tablero</vt:lpstr>
      <vt:lpstr>1. ¿Qué categorías estuvieron más frecuentemente en tendencia?</vt:lpstr>
      <vt:lpstr>2. ¿Cómo se distribuyeron en las regiones?</vt:lpstr>
      <vt:lpstr>3. ¿Qué categorías fueron particularmente populares en Estados Unidos?</vt:lpstr>
      <vt:lpstr>4. ¿Hubo diferencias entre Estados Unidos y otros países?</vt:lpstr>
      <vt:lpstr>Conclusiones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Disponible</dc:creator>
  <cp:keywords/>
  <dc:description>generated using python-pptx</dc:description>
  <cp:lastModifiedBy>Dan Levi Menchaca Bedolla</cp:lastModifiedBy>
  <cp:revision>3</cp:revision>
  <dcterms:created xsi:type="dcterms:W3CDTF">2013-01-27T09:14:16Z</dcterms:created>
  <dcterms:modified xsi:type="dcterms:W3CDTF">2025-09-11T21:56:33Z</dcterms:modified>
  <cp:category/>
</cp:coreProperties>
</file>